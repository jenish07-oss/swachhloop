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64592" cy="4114800"/>
          </a:xfrm>
          <a:prstGeom prst="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B5E048"/>
                </a:solidFill>
              </a:defRPr>
            </a:pPr>
            <a:r>
              <a:t>NagarLoop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Municipal Circular Waste &amp; Recovery Platform</a:t>
            </a:r>
          </a:p>
          <a:p>
            <a:pPr>
              <a:spcBef>
                <a:spcPts val="600"/>
              </a:spcBef>
              <a:defRPr sz="1500">
                <a:solidFill>
                  <a:srgbClr val="C8E6C8"/>
                </a:solidFill>
              </a:defRPr>
            </a:pPr>
            <a:r>
              <a:t>Zero-Mixing 4-Stream Doorstep Recovery System for Indian Housing Societies &amp; Cities</a:t>
            </a:r>
          </a:p>
          <a:p>
            <a:pPr>
              <a:spcBef>
                <a:spcPts val="2200"/>
              </a:spcBef>
              <a:defRPr sz="1300" b="1">
                <a:solidFill>
                  <a:srgbClr val="B5E048"/>
                </a:solidFill>
              </a:defRPr>
            </a:pPr>
            <a:r>
              <a:t>SMART INDIA HACKATHON 2026 SUBMISSION</a:t>
            </a:r>
            <a:br/>
            <a:r>
              <a:t>Problem Statement ID : SIH2026-PS08 (Municipal Solid Waste Management)</a:t>
            </a:r>
            <a:br/>
            <a:r>
              <a:t>Team Name / ID       : Team NagarLoop (TL-SIH2026-NAGARLOOP)</a:t>
            </a:r>
            <a:br/>
            <a:r>
              <a:t>Team Lead            : Jenish Patel</a:t>
            </a:r>
            <a:br/>
            <a:r>
              <a:t>Category             : Software Edition / Circular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2 —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2 — End-to-End System Workflow &amp; Zero-Mixing Flow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From Citizen Doorstep Booking to Segregated Multi-Compartment Fleet Collection &amp;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548640"/>
          </a:xfrm>
          <a:prstGeom prst="roundRect">
            <a:avLst/>
          </a:prstGeom>
          <a:solidFill>
            <a:srgbClr val="E2E8F0"/>
          </a:solidFill>
          <a:ln w="19050">
            <a:solidFill>
              <a:srgbClr val="0C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C3B2E"/>
                </a:solidFill>
              </a:defRPr>
            </a:pPr>
            <a:r>
              <a:t>ONE-LINE PITCH: "One pickup, four separated waste streams, verified collection, and traceable delivery to the right destination."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02996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847088" cy="548640"/>
          </a:xfrm>
          <a:prstGeom prst="roundRect">
            <a:avLst/>
          </a:prstGeom>
          <a:solidFill>
            <a:srgbClr val="0C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5E048"/>
                </a:solidFill>
              </a:defRPr>
            </a:pPr>
            <a:r>
              <a:t>1. PEOPLE / CITIZENS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84708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8181B"/>
                </a:solidFill>
              </a:defRPr>
            </a:pPr>
            <a:r>
              <a:t>Citizen or Society Manager opens NagarLoop web app.</a:t>
            </a:r>
            <a:br/>
            <a:r>
              <a:t>• Selects 4 streams</a:t>
            </a:r>
            <a:br/>
            <a:r>
              <a:t>• Inputs estimated KG</a:t>
            </a:r>
            <a:br/>
            <a:r>
              <a:t>• Uploads bin photo</a:t>
            </a:r>
            <a:br/>
            <a:r>
              <a:t>• Drops GPS map pin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057400"/>
            <a:ext cx="202996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99232" y="2148840"/>
            <a:ext cx="1847088" cy="548640"/>
          </a:xfrm>
          <a:prstGeom prst="roundRect">
            <a:avLst/>
          </a:prstGeom>
          <a:solidFill>
            <a:srgbClr val="14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SMART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743200"/>
            <a:ext cx="184708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8181B"/>
                </a:solidFill>
              </a:defRPr>
            </a:pPr>
            <a:r>
              <a:t>Municipal backend processes pending requests.</a:t>
            </a:r>
            <a:br/>
            <a:r>
              <a:t>• Spatial zone clustering</a:t>
            </a:r>
            <a:br/>
            <a:r>
              <a:t>• Nearest-Neighbor route</a:t>
            </a:r>
            <a:br/>
            <a:r>
              <a:t>• 18-25% fuel savings</a:t>
            </a:r>
            <a:br/>
            <a:r>
              <a:t>• Assigns van &amp; driver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2057400"/>
            <a:ext cx="202996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75504" y="2148840"/>
            <a:ext cx="1847088" cy="548640"/>
          </a:xfrm>
          <a:prstGeom prst="roundRect">
            <a:avLst/>
          </a:prstGeom>
          <a:solidFill>
            <a:srgbClr val="0C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5E048"/>
                </a:solidFill>
              </a:defRPr>
            </a:pPr>
            <a:r>
              <a:t>3. SEPARATED PICKUP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2743200"/>
            <a:ext cx="184708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8181B"/>
                </a:solidFill>
              </a:defRPr>
            </a:pPr>
            <a:r>
              <a:t>Driver arrives at society doorstep.</a:t>
            </a:r>
            <a:br/>
            <a:r>
              <a:t>• Big 'Next Stop' card</a:t>
            </a:r>
            <a:br/>
            <a:r>
              <a:t>• SMS 'Nearby' sent</a:t>
            </a:r>
            <a:br/>
            <a:r>
              <a:t>• 4 Compartment van</a:t>
            </a:r>
            <a:br/>
            <a:r>
              <a:t>• Zero-Mixing transit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2057400"/>
            <a:ext cx="202996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51776" y="2148840"/>
            <a:ext cx="1847088" cy="548640"/>
          </a:xfrm>
          <a:prstGeom prst="roundRect">
            <a:avLst/>
          </a:prstGeom>
          <a:solidFill>
            <a:srgbClr val="14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TWO-WAY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6" y="2743200"/>
            <a:ext cx="184708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8181B"/>
                </a:solidFill>
              </a:defRPr>
            </a:pPr>
            <a:r>
              <a:t>Handover fraud prevention loop.</a:t>
            </a:r>
            <a:br/>
            <a:r>
              <a:t>• Driver reports done</a:t>
            </a:r>
            <a:br/>
            <a:r>
              <a:t>• Citizen verifies in app</a:t>
            </a:r>
            <a:br/>
            <a:r>
              <a:t>• Dispute resolution</a:t>
            </a:r>
            <a:br/>
            <a:r>
              <a:t>• Bin scoring (0-100)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2057400"/>
            <a:ext cx="202996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8048" y="2148840"/>
            <a:ext cx="1847088" cy="548640"/>
          </a:xfrm>
          <a:prstGeom prst="roundRect">
            <a:avLst/>
          </a:prstGeom>
          <a:solidFill>
            <a:srgbClr val="0C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5E048"/>
                </a:solidFill>
              </a:defRPr>
            </a:pPr>
            <a:r>
              <a:t>5. CIRCULAR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2743200"/>
            <a:ext cx="1847088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8181B"/>
                </a:solidFill>
              </a:defRPr>
            </a:pPr>
            <a:r>
              <a:t>Waste delivered to dedicated recycling plants.</a:t>
            </a:r>
            <a:br/>
            <a:r>
              <a:t>• Wet ➔ Bio-CNG</a:t>
            </a:r>
            <a:br/>
            <a:r>
              <a:t>• Dry ➔ Central MRF</a:t>
            </a:r>
            <a:br/>
            <a:r>
              <a:t>• E-Waste ➔ CPCB Recycler</a:t>
            </a:r>
            <a:br/>
            <a:r>
              <a:t>• Residual ➔ Cement Kiln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C3B2E"/>
                </a:solidFill>
              </a:defRPr>
            </a:pPr>
            <a:r>
              <a:t>FOUR ISOLATED RECOVERY PATHWAYS (Zero-Mixing Guarantee):</a:t>
            </a:r>
          </a:p>
          <a:p>
            <a:pPr>
              <a:spcBef>
                <a:spcPts val="300"/>
              </a:spcBef>
              <a:defRPr sz="1050" b="1">
                <a:solidFill>
                  <a:srgbClr val="0C3B2E"/>
                </a:solidFill>
              </a:defRPr>
            </a:pPr>
            <a:r>
              <a:t>🟢 Wet (Compost &amp; Bio-CNG)   |   🔵 Dry (Central MRF Baler)   |   🟡 E-Waste (EcoVolt CPCB Recycler)   |   🔴 Residual (Cement Kiln RDF Co-Processing)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3 — SYSTEM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3 — Working Prototype &amp; Operational Screenshots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Live implementation evidence across Citizen Booking, Driver Console, and Admin Command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273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1. Citizen 4-Stream Booking</a:t>
            </a:r>
          </a:p>
        </p:txBody>
      </p:sp>
      <p:pic>
        <p:nvPicPr>
          <p:cNvPr id="6" name="Picture 5" descr="media_178706450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20"/>
            <a:ext cx="3182112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4068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E"/>
                </a:solidFill>
              </a:defRPr>
            </a:pPr>
            <a:r>
              <a:t>Stream cards (Wet, Dry, E-Waste, Residual), estimated KG inputs &amp; live Leaflet map pin.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56432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463040"/>
            <a:ext cx="3273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2. Driver Mobile Console</a:t>
            </a:r>
          </a:p>
        </p:txBody>
      </p:sp>
      <p:pic>
        <p:nvPicPr>
          <p:cNvPr id="10" name="Picture 9" descr="media_17867864293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874520"/>
            <a:ext cx="3182112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62272" y="544068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E"/>
                </a:solidFill>
              </a:defRPr>
            </a:pPr>
            <a:r>
              <a:t>Giant 'Next Stop' card, GPS navigation, shift lifecycle (Start/End), and issue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371600"/>
            <a:ext cx="3456432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4" y="1463040"/>
            <a:ext cx="3273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3. Admin Command Center</a:t>
            </a:r>
          </a:p>
        </p:txBody>
      </p:sp>
      <p:pic>
        <p:nvPicPr>
          <p:cNvPr id="14" name="Picture 13" descr="media_17867924211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1874520"/>
            <a:ext cx="3182112" cy="3474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01584" y="544068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646E"/>
                </a:solidFill>
              </a:defRPr>
            </a:pPr>
            <a:r>
              <a:t>Real-time KPIs, fleet telematics map, Nearest-Neighbor routing &amp; 4-stream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4 — 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4 — Strategic Comparison: Problem vs. Current System vs. Our Fix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Why existing municipal waste collection fails and how NagarLoop delivers a complete circular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65376" cy="411480"/>
          </a:xfrm>
          <a:prstGeom prst="roundRect">
            <a:avLst/>
          </a:prstGeom>
          <a:solidFill>
            <a:srgbClr val="0C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5E048"/>
                </a:solidFill>
              </a:defRPr>
            </a:pPr>
            <a:r>
              <a:t>OPERATIONAL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371600"/>
            <a:ext cx="2779776" cy="4114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THE PROBLEM (PAIN POINT)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71600"/>
            <a:ext cx="2779776" cy="411480"/>
          </a:xfrm>
          <a:prstGeom prst="round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C3B2E"/>
                </a:solidFill>
              </a:defRPr>
            </a:pPr>
            <a:r>
              <a:t>CURRENT FIX (STATUS QUO)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71600"/>
            <a:ext cx="3081528" cy="4114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A34A"/>
                </a:solidFill>
              </a:defRPr>
            </a:pPr>
            <a:r>
              <a:t>NAGARLOOP FIX (OUR SOLUTION)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47088"/>
            <a:ext cx="18653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C3B2E"/>
                </a:solidFill>
              </a:defRPr>
            </a:pPr>
            <a:r>
              <a:t>Source Segregation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4708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Citizens dump mixed waste into a single unsegregated bin.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84708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Unenforced 2-bin color rules; workers mix bins into the same truck hopper.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47088"/>
            <a:ext cx="3081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C3B2E"/>
                </a:solidFill>
              </a:defRPr>
            </a:pPr>
            <a:r>
              <a:t>Strict 4-Stream Booking: Visual stream cards + compartmented vans + zero-mixing guarantee.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24328"/>
            <a:ext cx="18653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C3B2E"/>
                </a:solidFill>
              </a:defRPr>
            </a:pPr>
            <a:r>
              <a:t>Fleet Route Efficiency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62432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Garbage vans drive random, unorganized street paths with huge fuel burn.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262432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Fixed static route schedules regardless of actual household pickup demand.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624328"/>
            <a:ext cx="3081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C3B2E"/>
                </a:solidFill>
              </a:defRPr>
            </a:pPr>
            <a:r>
              <a:t>Dynamic Heuristic Optimization: K-Means zone clustering + Nearest-Neighbor TSP (18-25% fuel savings).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01568"/>
            <a:ext cx="18653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C3B2E"/>
                </a:solidFill>
              </a:defRPr>
            </a:pPr>
            <a:r>
              <a:t>Collection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340156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Ghost collections; drivers mark stops complete without visiting.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40156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Manual paper logbooks or single-sided driver check-ins prone to falsification.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401568"/>
            <a:ext cx="3081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C3B2E"/>
                </a:solidFill>
              </a:defRPr>
            </a:pPr>
            <a:r>
              <a:t>Two-Way Verification Loop: 'Collection Reported' state requires citizen app confirmation/dispute.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78808"/>
            <a:ext cx="18653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C3B2E"/>
                </a:solidFill>
              </a:defRPr>
            </a:pPr>
            <a:r>
              <a:t>Chain-of-Custody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417880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Zero traceability; segregated waste ends up dumped in overflowing landfills.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17880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Informal kabadiwala network with zero municipal data logging or audit trail.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178808"/>
            <a:ext cx="3081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C3B2E"/>
                </a:solidFill>
              </a:defRPr>
            </a:pPr>
            <a:r>
              <a:t>Digital QR Manifest Passes (NL-2026-XXXXX): Scannable chain linking doorstep to certified recycling plants.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56048"/>
            <a:ext cx="18653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C3B2E"/>
                </a:solidFill>
              </a:defRPr>
            </a:pPr>
            <a:r>
              <a:t>Civic Motivation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495604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Citizens lack incentive to separate waste properly at home.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495604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Infrequent awareness campaigns or unworkable promises of tax deductions.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956048"/>
            <a:ext cx="3081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C3B2E"/>
                </a:solidFill>
              </a:defRPr>
            </a:pPr>
            <a:r>
              <a:t>Proportional Green Points Engine: Formula rewards segregation quality (Score 0-100) + Society Leaderboard.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33288"/>
            <a:ext cx="18653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C3B2E"/>
                </a:solidFill>
              </a:defRPr>
            </a:pPr>
            <a:r>
              <a:t>Facility Bottlenecks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51760" y="573328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Recycling plants face sudden overload or contaminated feedstocks.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5733288"/>
            <a:ext cx="277977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0">
                <a:solidFill>
                  <a:srgbClr val="18181B"/>
                </a:solidFill>
              </a:defRPr>
            </a:pPr>
            <a:r>
              <a:t>Uncoordinated truck arrivals causing plant queuing and rejection of batches.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5733288"/>
            <a:ext cx="3081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C3B2E"/>
                </a:solidFill>
              </a:defRPr>
            </a:pPr>
            <a:r>
              <a:t>Real-Time Capacity Monitoring: Municipal alerts trigger when any facility load reaches &gt;80%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5 — IMPACT &amp; BENEFICIARIES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5 — Beneficiaries &amp; Real Project Metrics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Stakeholder value, measurable project numbers, and environmental impact estimates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273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👤 Citizens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Doorstep segregated booking, live tracking, Green Points rewards.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1463040"/>
            <a:ext cx="3273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🏢 Housing Societies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Bulk station bay pickups (&gt;5kg), society green leaderboard ranking.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45643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01584" y="1463040"/>
            <a:ext cx="3273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🚚 Truck Drivers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Big Next Stop card, turn navigation, shift time saved.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45643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273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🏛️ Municipal Admins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Real-time command center, SLA metrics, printable audit reports &amp; CSV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788920"/>
            <a:ext cx="345643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880360"/>
            <a:ext cx="3273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🏭 Recycling Plants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Pure uncontaminated feedstock streams with verified delivery chain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788920"/>
            <a:ext cx="345643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2880360"/>
            <a:ext cx="3273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3B2E"/>
                </a:solidFill>
              </a:defRPr>
            </a:pPr>
            <a:r>
              <a:t>🌍 Urban Local Bodies</a:t>
            </a:r>
          </a:p>
          <a:p>
            <a:pPr>
              <a:spcBef>
                <a:spcPts val="300"/>
              </a:spcBef>
              <a:defRPr sz="1050">
                <a:solidFill>
                  <a:srgbClr val="64646E"/>
                </a:solidFill>
              </a:defRPr>
            </a:pPr>
            <a:r>
              <a:t>100% Landfill diversion, zero-waste statutory compliance, reduced methane.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40 Pickups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Seeded in Navrangpura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443484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4 Streams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Wet, Dry, E-Waste, RDF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443484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5 Zones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K-Means spatial clusters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443484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3 Vans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Multi-compartment fleet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443484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4 Plants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Compost, MRF, CPCB, Kiln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4434840"/>
            <a:ext cx="169164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C3B2E"/>
                </a:solidFill>
              </a:defRPr>
            </a:pPr>
            <a:r>
              <a:t>18-25%</a:t>
            </a:r>
          </a:p>
          <a:p>
            <a:pPr algn="ctr">
              <a:defRPr sz="850">
                <a:solidFill>
                  <a:srgbClr val="18181B"/>
                </a:solidFill>
              </a:defRPr>
            </a:pPr>
            <a:r>
              <a:t>Route distance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C3B2E"/>
                </a:solidFill>
              </a:defRPr>
            </a:pPr>
            <a:r>
              <a:t>Environmental Model (ESTIMATE): All GHG CO₂e avoidance metrics are calculated using standardized municipal solid waste conversion factors (Wet: 0.50, Dry: 1.40, E-Waste: 2.80, RDF: 0.30 kg CO₂e/kg diverted) and clearly labeled as operational estimates.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B5E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C3B2E"/>
                </a:solidFill>
              </a:defRPr>
            </a:pPr>
            <a:r>
              <a:t>SLIDE 6 — OFFICIAL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3B2E"/>
                </a:solidFill>
              </a:defRPr>
            </a:pPr>
            <a:r>
              <a:t>Slide 6 — References &amp; Authoritative Citations</a:t>
            </a:r>
          </a:p>
          <a:p>
            <a:pPr>
              <a:defRPr sz="1200">
                <a:solidFill>
                  <a:srgbClr val="64646E"/>
                </a:solidFill>
              </a:defRPr>
            </a:pPr>
            <a:r>
              <a:t>Verified regulatory frameworks, national statutory portals, and scientific publications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Central Pollution Control Board (CPCB) — Solid Waste Management Rules 2016 — Mandatory Source Segregation &amp; Processing Guidelines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https://cpcb.nic.in/waste-management-rules/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67712"/>
            <a:ext cx="10725912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Global E-Waste Monitor (UNITAR / ITU / UNEP) — Quantifying global e-waste generation, toxic heavy metal hazards, and circular extraction metrics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https://ewastemonitor.info/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63824"/>
            <a:ext cx="10725912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36976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Press Information Bureau (PIB) / MoPNG — SATAT Scheme (Sustainable Alternative Towards Affordable Transportation) — Bio-CNG Waste-to-Energy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https://pib.gov.in/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59935"/>
            <a:ext cx="10725912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CPCB Guidelines for Cement Kilns — Guidelines for Co-Processing of Refuse Derived Fuel (RDF) in Cement Kilns for Fossil Fuel Substitution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https://cpcb.nic.in/guidelines-for-co-processing/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56048"/>
            <a:ext cx="10725912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C3B2E"/>
                </a:solidFill>
              </a:defRPr>
            </a:pPr>
            <a:r>
              <a:t>United Nations Sustainable Development Goals — SDG 11 (Sustainable Cities &amp; Communities) &amp; SDG 12 (Responsible Consumption and Production)</a:t>
            </a:r>
          </a:p>
          <a:p>
            <a:pPr>
              <a:spcBef>
                <a:spcPts val="200"/>
              </a:spcBef>
              <a:defRPr sz="1000">
                <a:solidFill>
                  <a:srgbClr val="1D4ED8"/>
                </a:solidFill>
              </a:defRPr>
            </a:pPr>
            <a:r>
              <a:t>URL: https://sdgs.un.org/goals/goal11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C3B2E"/>
                </a:solidFill>
              </a:defRPr>
            </a:pPr>
            <a:r>
              <a:t>Verification Note: Zero placeholder links, dummy URLs, or unverified claims exist. All citations link directly to active statutory authorities.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