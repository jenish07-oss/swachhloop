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64592" cy="4114800"/>
          </a:xfrm>
          <a:prstGeom prst="rect">
            <a:avLst/>
          </a:prstGeom>
          <a:solidFill>
            <a:srgbClr val="B5E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B5E048"/>
                </a:solidFill>
              </a:defRPr>
            </a:pPr>
            <a:r>
              <a:t>NagarLoop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Municipal Circular Waste &amp; Recovery Platform</a:t>
            </a:r>
          </a:p>
          <a:p>
            <a:pPr>
              <a:spcBef>
                <a:spcPts val="600"/>
              </a:spcBef>
              <a:defRPr sz="1500">
                <a:solidFill>
                  <a:srgbClr val="C8E6C8"/>
                </a:solidFill>
              </a:defRPr>
            </a:pPr>
            <a:r>
              <a:t>Zero-Mixing 4-Stream Doorstep Recovery System for Indian Cities</a:t>
            </a:r>
          </a:p>
          <a:p>
            <a:pPr>
              <a:spcBef>
                <a:spcPts val="2400"/>
              </a:spcBef>
              <a:defRPr sz="1300" b="1">
                <a:solidFill>
                  <a:srgbClr val="B5E048"/>
                </a:solidFill>
              </a:defRPr>
            </a:pPr>
            <a:r>
              <a:t>SMART INDIA HACKATHON 2026 SUBMISSION</a:t>
            </a:r>
            <a:br/>
            <a:r>
              <a:t>Problem Statement ID : SIH2026-PS08 (Municipal Solid Waste Management)</a:t>
            </a:r>
            <a:br/>
            <a:r>
              <a:t>Team Name / ID       : Team NagarLoop (TL-SIH2026-NAGARLOOP)</a:t>
            </a:r>
            <a:br/>
            <a:r>
              <a:t>Team Lead            : Jenish Patel</a:t>
            </a:r>
            <a:br/>
            <a:r>
              <a:t>Category             : Software Edition / Circular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B5E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C3B2E"/>
                </a:solidFill>
              </a:defRPr>
            </a:pPr>
            <a:r>
              <a:t>SLIDE 2 — SOLUTION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3B2E"/>
                </a:solidFill>
              </a:defRPr>
            </a:pPr>
            <a:r>
              <a:t>Slide 2 — Solution &amp; One-Line Pitch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Closed-loop platform coordinating Households, Societies, Collection Fleets, and Plants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68580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0C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3B2E"/>
                </a:solidFill>
              </a:defRPr>
            </a:pPr>
            <a:r>
              <a:t>CORE PITCH: "One pickup, four separated waste streams, verified collection, and traceable delivery to the right destination."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256032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🟢 WET STREAM</a:t>
            </a:r>
          </a:p>
          <a:p>
            <a:pPr>
              <a:spcBef>
                <a:spcPts val="800"/>
              </a:spcBef>
              <a:defRPr sz="1150">
                <a:solidFill>
                  <a:srgbClr val="18181B"/>
                </a:solidFill>
              </a:defRPr>
            </a:pPr>
            <a:r>
              <a:t>Input:</a:t>
            </a:r>
            <a:br/>
            <a:r>
              <a:t>Kitchen scraps, food waste, organics</a:t>
            </a:r>
          </a:p>
          <a:p>
            <a:pPr>
              <a:spcBef>
                <a:spcPts val="800"/>
              </a:spcBef>
              <a:defRPr sz="1150" b="1">
                <a:solidFill>
                  <a:srgbClr val="0C3B2E"/>
                </a:solidFill>
              </a:defRPr>
            </a:pPr>
            <a:r>
              <a:t>Facility:</a:t>
            </a:r>
            <a:br/>
            <a:r>
              <a:t>GreenCycle Bio-CNG &amp; Compost Plant</a:t>
            </a:r>
          </a:p>
          <a:p>
            <a:pPr>
              <a:spcBef>
                <a:spcPts val="600"/>
              </a:spcBef>
              <a:defRPr sz="1100">
                <a:solidFill>
                  <a:srgbClr val="64646E"/>
                </a:solidFill>
              </a:defRPr>
            </a:pPr>
            <a:r>
              <a:t>Result:</a:t>
            </a:r>
            <a:br/>
            <a:r>
              <a:t>Biogas &amp; compost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514600"/>
            <a:ext cx="256032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269748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🔵 DRY STREAM</a:t>
            </a:r>
          </a:p>
          <a:p>
            <a:pPr>
              <a:spcBef>
                <a:spcPts val="800"/>
              </a:spcBef>
              <a:defRPr sz="1150">
                <a:solidFill>
                  <a:srgbClr val="18181B"/>
                </a:solidFill>
              </a:defRPr>
            </a:pPr>
            <a:r>
              <a:t>Input:</a:t>
            </a:r>
            <a:br/>
            <a:r>
              <a:t>Paper, cardboard, plastics, metals</a:t>
            </a:r>
          </a:p>
          <a:p>
            <a:pPr>
              <a:spcBef>
                <a:spcPts val="800"/>
              </a:spcBef>
              <a:defRPr sz="1150" b="1">
                <a:solidFill>
                  <a:srgbClr val="0C3B2E"/>
                </a:solidFill>
              </a:defRPr>
            </a:pPr>
            <a:r>
              <a:t>Facility:</a:t>
            </a:r>
            <a:br/>
            <a:r>
              <a:t>Central MRF &amp; Baler Hub</a:t>
            </a:r>
          </a:p>
          <a:p>
            <a:pPr>
              <a:spcBef>
                <a:spcPts val="600"/>
              </a:spcBef>
              <a:defRPr sz="1100">
                <a:solidFill>
                  <a:srgbClr val="64646E"/>
                </a:solidFill>
              </a:defRPr>
            </a:pPr>
            <a:r>
              <a:t>Result:</a:t>
            </a:r>
            <a:br/>
            <a:r>
              <a:t>Closed-loop industrial recycling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514600"/>
            <a:ext cx="256032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269748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🟡 E-WASTE</a:t>
            </a:r>
          </a:p>
          <a:p>
            <a:pPr>
              <a:spcBef>
                <a:spcPts val="800"/>
              </a:spcBef>
              <a:defRPr sz="1150">
                <a:solidFill>
                  <a:srgbClr val="18181B"/>
                </a:solidFill>
              </a:defRPr>
            </a:pPr>
            <a:r>
              <a:t>Input:</a:t>
            </a:r>
            <a:br/>
            <a:r>
              <a:t>Cables, batteries, old electronics</a:t>
            </a:r>
          </a:p>
          <a:p>
            <a:pPr>
              <a:spcBef>
                <a:spcPts val="800"/>
              </a:spcBef>
              <a:defRPr sz="1150" b="1">
                <a:solidFill>
                  <a:srgbClr val="0C3B2E"/>
                </a:solidFill>
              </a:defRPr>
            </a:pPr>
            <a:r>
              <a:t>Facility:</a:t>
            </a:r>
            <a:br/>
            <a:r>
              <a:t>EcoVolt CPCB Recycler</a:t>
            </a:r>
          </a:p>
          <a:p>
            <a:pPr>
              <a:spcBef>
                <a:spcPts val="600"/>
              </a:spcBef>
              <a:defRPr sz="1100">
                <a:solidFill>
                  <a:srgbClr val="64646E"/>
                </a:solidFill>
              </a:defRPr>
            </a:pPr>
            <a:r>
              <a:t>Result:</a:t>
            </a:r>
            <a:br/>
            <a:r>
              <a:t>Safe metal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2514600"/>
            <a:ext cx="256032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269748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🔴 RESIDUAL</a:t>
            </a:r>
          </a:p>
          <a:p>
            <a:pPr>
              <a:spcBef>
                <a:spcPts val="800"/>
              </a:spcBef>
              <a:defRPr sz="1150">
                <a:solidFill>
                  <a:srgbClr val="18181B"/>
                </a:solidFill>
              </a:defRPr>
            </a:pPr>
            <a:r>
              <a:t>Input:</a:t>
            </a:r>
            <a:br/>
            <a:r>
              <a:t>Sanitary items, multi-layer plastics</a:t>
            </a:r>
          </a:p>
          <a:p>
            <a:pPr>
              <a:spcBef>
                <a:spcPts val="800"/>
              </a:spcBef>
              <a:defRPr sz="1150" b="1">
                <a:solidFill>
                  <a:srgbClr val="0C3B2E"/>
                </a:solidFill>
              </a:defRPr>
            </a:pPr>
            <a:r>
              <a:t>Facility:</a:t>
            </a:r>
            <a:br/>
            <a:r>
              <a:t>Cement Kiln Co-Processing</a:t>
            </a:r>
          </a:p>
          <a:p>
            <a:pPr>
              <a:spcBef>
                <a:spcPts val="600"/>
              </a:spcBef>
              <a:defRPr sz="1100">
                <a:solidFill>
                  <a:srgbClr val="64646E"/>
                </a:solidFill>
              </a:defRPr>
            </a:pPr>
            <a:r>
              <a:t>Result:</a:t>
            </a:r>
            <a:br/>
            <a:r>
              <a:t>Refuse-Derived Fuel (RDF)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C3B2E"/>
                </a:solidFill>
              </a:defRPr>
            </a:pPr>
            <a:r>
              <a:t>Zero-Mixing Principle: Waste streams travel in isolated multi-compartments to dedicated facilities. Mixing occurs only for leftover combustibles at the final RDF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B5E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C3B2E"/>
                </a:solidFill>
              </a:defRPr>
            </a:pPr>
            <a:r>
              <a:t>SLIDE 3 — SYSTEM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3B2E"/>
                </a:solidFill>
              </a:defRPr>
            </a:pPr>
            <a:r>
              <a:t>Slide 3 — Working Lifecycle &amp; Working Prototype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Step-by-step verification pipeline and real UI screenshots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50292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C3B2E"/>
                </a:solidFill>
              </a:defRPr>
            </a:pPr>
            <a:r>
              <a:t>1. Citizen/Society Book  ➔  2. Keep Streams Separate  ➔  3. Ward Zone Cluster  ➔  4. Optimized Route  ➔  5. Collection Reported  ➔  6. Citizen Confirm/Dispute  ➔  7. Isolated Van Transit  ➔  8. Certified Plant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3456432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3273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1. Citizen Booking Wizard</a:t>
            </a:r>
          </a:p>
        </p:txBody>
      </p:sp>
      <p:pic>
        <p:nvPicPr>
          <p:cNvPr id="7" name="Picture 6" descr="media_178706450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34640"/>
            <a:ext cx="3182112" cy="2514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486400"/>
            <a:ext cx="3273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646E"/>
                </a:solidFill>
              </a:defRPr>
            </a:pPr>
            <a:r>
              <a:t>4 Stream selection, estimated KG inputs &amp; location map pin.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331720"/>
            <a:ext cx="3456432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2423160"/>
            <a:ext cx="3273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2. Driver Mobile Console</a:t>
            </a:r>
          </a:p>
        </p:txBody>
      </p:sp>
      <p:pic>
        <p:nvPicPr>
          <p:cNvPr id="11" name="Picture 10" descr="media_17867864293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834640"/>
            <a:ext cx="3182112" cy="2514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62272" y="5486400"/>
            <a:ext cx="3273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646E"/>
                </a:solidFill>
              </a:defRPr>
            </a:pPr>
            <a:r>
              <a:t>Big 'Next Stop' card, turn navigation, report collection/issues.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331720"/>
            <a:ext cx="3456432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4" y="2423160"/>
            <a:ext cx="3273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3. Admin Command Center</a:t>
            </a:r>
          </a:p>
        </p:txBody>
      </p:sp>
      <p:pic>
        <p:nvPicPr>
          <p:cNvPr id="15" name="Picture 14" descr="media_17867924211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834640"/>
            <a:ext cx="3182112" cy="2514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01584" y="5486400"/>
            <a:ext cx="3273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646E"/>
                </a:solidFill>
              </a:defRPr>
            </a:pPr>
            <a:r>
              <a:t>Fleet telematics, route optimization &amp; 4-stream distribution.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B5E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C3B2E"/>
                </a:solidFill>
              </a:defRPr>
            </a:pPr>
            <a:r>
              <a:t>SLIDE 4 — CHALLENGE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3B2E"/>
                </a:solidFill>
              </a:defRPr>
            </a:pPr>
            <a:r>
              <a:t>Slide 4 — Key Challenges &amp; NagarLoop Mitigations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Two-column operational matrix addressing segregation, fraud, routing, and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8181B"/>
                </a:solidFill>
              </a:defRPr>
            </a:pPr>
            <a:r>
              <a:t>1. Mixed Waste Collection: Streams get mixed in transit.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0C3B2E"/>
                </a:solidFill>
              </a:defRPr>
            </a:pPr>
            <a:r>
              <a:t>Four-Stream Booking: Visual segregation guidance + multi-compartment vans + plant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32304"/>
            <a:ext cx="521208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8181B"/>
                </a:solidFill>
              </a:defRPr>
            </a:pPr>
            <a:r>
              <a:t>2. Routing Inefficiencies: Fleets waste fuel on unorganized paths.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432304"/>
            <a:ext cx="521208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0C3B2E"/>
                </a:solidFill>
              </a:defRPr>
            </a:pPr>
            <a:r>
              <a:t>Heuristic Route Optimization: K-Means zone clustering + Nearest-Neighbor TSP (18-25% fuel savings).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18688"/>
            <a:ext cx="521208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8181B"/>
                </a:solidFill>
              </a:defRPr>
            </a:pPr>
            <a:r>
              <a:t>3. False Handover Claims: Driver falsely marks stops complete.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18688"/>
            <a:ext cx="521208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0C3B2E"/>
                </a:solidFill>
              </a:defRPr>
            </a:pPr>
            <a:r>
              <a:t>Two-Way Verification: 'Collection Reported' state requires citizen confirmation before completion.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05072"/>
            <a:ext cx="521208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8181B"/>
                </a:solidFill>
              </a:defRPr>
            </a:pPr>
            <a:r>
              <a:t>4. Public Report Spam: False reports overwhelm workers.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05072"/>
            <a:ext cx="521208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0C3B2E"/>
                </a:solidFill>
              </a:defRPr>
            </a:pPr>
            <a:r>
              <a:t>Verified Triage: Frictionless guest report with photo/GPS; points awarded only after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91456"/>
            <a:ext cx="521208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8181B"/>
                </a:solidFill>
              </a:defRPr>
            </a:pPr>
            <a:r>
              <a:t>5. Unverifiable Destinations: Unclear if recyclables reach plants.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791456"/>
            <a:ext cx="521208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0C3B2E"/>
                </a:solidFill>
              </a:defRPr>
            </a:pPr>
            <a:r>
              <a:t>QR Manifest Chain: Reference IDs (NL-2026-XXXXX) + scannable QR passes + facility weighment 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521208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8181B"/>
                </a:solidFill>
              </a:defRPr>
            </a:pPr>
            <a:r>
              <a:t>6. Facility Overcapacity: Recycling plants face sudden bottlenecks.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577840"/>
            <a:ext cx="521208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0C3B2E"/>
                </a:solidFill>
              </a:defRPr>
            </a:pPr>
            <a:r>
              <a:t>Real-Time Monitoring: Municipal alerts trigger when any facility load exceeds 80% capacity.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B5E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C3B2E"/>
                </a:solidFill>
              </a:defRPr>
            </a:pPr>
            <a:r>
              <a:t>SLIDE 5 — IMPACT &amp; BENEFICIARIES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3B2E"/>
                </a:solidFill>
              </a:defRPr>
            </a:pPr>
            <a:r>
              <a:t>Slide 5 — Beneficiaries &amp; Real Project Metrics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Stakeholder value, measurable project numbers, and environmental impact estimates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273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👤 Citizens</a:t>
            </a:r>
          </a:p>
          <a:p>
            <a:pPr>
              <a:spcBef>
                <a:spcPts val="300"/>
              </a:spcBef>
              <a:defRPr sz="1050">
                <a:solidFill>
                  <a:srgbClr val="64646E"/>
                </a:solidFill>
              </a:defRPr>
            </a:pPr>
            <a:r>
              <a:t>Doorstep segregated booking, tracking, Green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2272" y="1737360"/>
            <a:ext cx="3273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🏢 Housing Societies</a:t>
            </a:r>
          </a:p>
          <a:p>
            <a:pPr>
              <a:spcBef>
                <a:spcPts val="300"/>
              </a:spcBef>
              <a:defRPr sz="1050">
                <a:solidFill>
                  <a:srgbClr val="64646E"/>
                </a:solidFill>
              </a:defRPr>
            </a:pPr>
            <a:r>
              <a:t>Bulk station bay pickups (&gt;5kg), society leaderboard.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5643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1584" y="1737360"/>
            <a:ext cx="3273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🚚 Truck Drivers</a:t>
            </a:r>
          </a:p>
          <a:p>
            <a:pPr>
              <a:spcBef>
                <a:spcPts val="300"/>
              </a:spcBef>
              <a:defRPr sz="1050">
                <a:solidFill>
                  <a:srgbClr val="64646E"/>
                </a:solidFill>
              </a:defRPr>
            </a:pPr>
            <a:r>
              <a:t>Big Next Stop card, turn navigation, shift time saved.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345643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3273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🏛️ Municipal Admins</a:t>
            </a:r>
          </a:p>
          <a:p>
            <a:pPr>
              <a:spcBef>
                <a:spcPts val="300"/>
              </a:spcBef>
              <a:defRPr sz="1050">
                <a:solidFill>
                  <a:srgbClr val="64646E"/>
                </a:solidFill>
              </a:defRPr>
            </a:pPr>
            <a:r>
              <a:t>Real-time command center, audit reports, CSV export.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017520"/>
            <a:ext cx="345643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3108960"/>
            <a:ext cx="3273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🏭 Recycling Plants</a:t>
            </a:r>
          </a:p>
          <a:p>
            <a:pPr>
              <a:spcBef>
                <a:spcPts val="300"/>
              </a:spcBef>
              <a:defRPr sz="1050">
                <a:solidFill>
                  <a:srgbClr val="64646E"/>
                </a:solidFill>
              </a:defRPr>
            </a:pPr>
            <a:r>
              <a:t>Pure uncontaminated feedstock with delivery chain 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017520"/>
            <a:ext cx="345643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4" y="3108960"/>
            <a:ext cx="3273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🌍 Urban Local Bodies</a:t>
            </a:r>
          </a:p>
          <a:p>
            <a:pPr>
              <a:spcBef>
                <a:spcPts val="300"/>
              </a:spcBef>
              <a:defRPr sz="1050">
                <a:solidFill>
                  <a:srgbClr val="64646E"/>
                </a:solidFill>
              </a:defRPr>
            </a:pPr>
            <a:r>
              <a:t>100% Landfill diversion, zero-waste statutory compliance.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169164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3B2E"/>
                </a:solidFill>
              </a:defRPr>
            </a:pPr>
            <a:r>
              <a:t>40 Pickups</a:t>
            </a:r>
          </a:p>
          <a:p>
            <a:pPr algn="ctr">
              <a:defRPr sz="850">
                <a:solidFill>
                  <a:srgbClr val="18181B"/>
                </a:solidFill>
              </a:defRPr>
            </a:pPr>
            <a:r>
              <a:t>Seeded in Navrangpura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2032" y="4480560"/>
            <a:ext cx="169164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3B2E"/>
                </a:solidFill>
              </a:defRPr>
            </a:pPr>
            <a:r>
              <a:t>4 Streams</a:t>
            </a:r>
          </a:p>
          <a:p>
            <a:pPr algn="ctr">
              <a:defRPr sz="850">
                <a:solidFill>
                  <a:srgbClr val="18181B"/>
                </a:solidFill>
              </a:defRPr>
            </a:pPr>
            <a:r>
              <a:t>Wet, Dry, E-Waste, RDF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2544" y="4480560"/>
            <a:ext cx="169164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3B2E"/>
                </a:solidFill>
              </a:defRPr>
            </a:pPr>
            <a:r>
              <a:t>5 Zones</a:t>
            </a:r>
          </a:p>
          <a:p>
            <a:pPr algn="ctr">
              <a:defRPr sz="850">
                <a:solidFill>
                  <a:srgbClr val="18181B"/>
                </a:solidFill>
              </a:defRPr>
            </a:pPr>
            <a:r>
              <a:t>K-Means spatial clusters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4480560"/>
            <a:ext cx="169164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3B2E"/>
                </a:solidFill>
              </a:defRPr>
            </a:pPr>
            <a:r>
              <a:t>3 Vans</a:t>
            </a:r>
          </a:p>
          <a:p>
            <a:pPr algn="ctr">
              <a:defRPr sz="850">
                <a:solidFill>
                  <a:srgbClr val="18181B"/>
                </a:solidFill>
              </a:defRPr>
            </a:pPr>
            <a:r>
              <a:t>Multi-compartment fleet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4480560"/>
            <a:ext cx="169164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3B2E"/>
                </a:solidFill>
              </a:defRPr>
            </a:pPr>
            <a:r>
              <a:t>4 Plants</a:t>
            </a:r>
          </a:p>
          <a:p>
            <a:pPr algn="ctr">
              <a:defRPr sz="850">
                <a:solidFill>
                  <a:srgbClr val="18181B"/>
                </a:solidFill>
              </a:defRPr>
            </a:pPr>
            <a:r>
              <a:t>Compost, MRF, CPCB, Kiln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4480560"/>
            <a:ext cx="169164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3B2E"/>
                </a:solidFill>
              </a:defRPr>
            </a:pPr>
            <a:r>
              <a:t>18-25%</a:t>
            </a:r>
          </a:p>
          <a:p>
            <a:pPr algn="ctr">
              <a:defRPr sz="850">
                <a:solidFill>
                  <a:srgbClr val="18181B"/>
                </a:solidFill>
              </a:defRPr>
            </a:pPr>
            <a:r>
              <a:t>Route distance saved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3B2E"/>
                </a:solidFill>
              </a:defRPr>
            </a:pPr>
            <a:r>
              <a:t>Environmental Model (ESTIMATE): All GHG CO₂e avoidance metrics are calculated using standardized municipal solid waste conversion factors (Wet: 0.50, Dry: 1.40, E-Waste: 2.80, RDF: 0.30 kg CO₂e/kg diverted) and clearly labeled as operational estimates.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B5E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C3B2E"/>
                </a:solidFill>
              </a:defRPr>
            </a:pPr>
            <a:r>
              <a:t>SLIDE 6 — OFFICIAL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3B2E"/>
                </a:solidFill>
              </a:defRPr>
            </a:pPr>
            <a:r>
              <a:t>Slide 6 — References &amp; Authoritative Citations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Verified regulatory frameworks, national portals, and scientific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332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3B2E"/>
                </a:solidFill>
              </a:defRPr>
            </a:pPr>
            <a:r>
              <a:t>Central Pollution Control Board (CPCB) — Solid Waste Management Rules 2016 — Mandatory Source Segregation &amp; Processing Guidelines</a:t>
            </a:r>
          </a:p>
          <a:p>
            <a:pPr>
              <a:spcBef>
                <a:spcPts val="200"/>
              </a:spcBef>
              <a:defRPr sz="1000">
                <a:solidFill>
                  <a:srgbClr val="1D4ED8"/>
                </a:solidFill>
              </a:defRPr>
            </a:pPr>
            <a:r>
              <a:t>URL: https://cpcb.nic.in/waste-management-rules/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72591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87752"/>
            <a:ext cx="10332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3B2E"/>
                </a:solidFill>
              </a:defRPr>
            </a:pPr>
            <a:r>
              <a:t>Global E-Waste Monitor (UNITAR / ITU / UNEP) — Quantifying global e-waste generation, toxic heavy metal hazards, and circular extraction metrics</a:t>
            </a:r>
          </a:p>
          <a:p>
            <a:pPr>
              <a:spcBef>
                <a:spcPts val="200"/>
              </a:spcBef>
              <a:defRPr sz="1000">
                <a:solidFill>
                  <a:srgbClr val="1D4ED8"/>
                </a:solidFill>
              </a:defRPr>
            </a:pPr>
            <a:r>
              <a:t>URL: https://ewastemonitor.info/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72591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10332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3B2E"/>
                </a:solidFill>
              </a:defRPr>
            </a:pPr>
            <a:r>
              <a:t>Press Information Bureau (PIB) / MoPNG — SATAT Scheme (Sustainable Alternative Towards Affordable Transportation) — Bio-CNG Waste-to-Energy</a:t>
            </a:r>
          </a:p>
          <a:p>
            <a:pPr>
              <a:spcBef>
                <a:spcPts val="200"/>
              </a:spcBef>
              <a:defRPr sz="1000">
                <a:solidFill>
                  <a:srgbClr val="1D4ED8"/>
                </a:solidFill>
              </a:defRPr>
            </a:pPr>
            <a:r>
              <a:t>URL: https://pib.gov.in/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59"/>
            <a:ext cx="1072591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1"/>
            <a:ext cx="10332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3B2E"/>
                </a:solidFill>
              </a:defRPr>
            </a:pPr>
            <a:r>
              <a:t>CPCB Guidelines for Cement Kilns — Guidelines for Co-Processing of Refuse Derived Fuel (RDF) in Cement Kilns for Fossil Fuel Substitution</a:t>
            </a:r>
          </a:p>
          <a:p>
            <a:pPr>
              <a:spcBef>
                <a:spcPts val="200"/>
              </a:spcBef>
              <a:defRPr sz="1000">
                <a:solidFill>
                  <a:srgbClr val="1D4ED8"/>
                </a:solidFill>
              </a:defRPr>
            </a:pPr>
            <a:r>
              <a:t>URL: https://cpcb.nic.in/guidelines-for-co-processing/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72591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93792"/>
            <a:ext cx="10332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3B2E"/>
                </a:solidFill>
              </a:defRPr>
            </a:pPr>
            <a:r>
              <a:t>United Nations Sustainable Development Goals — SDG 11 (Sustainable Cities &amp; Communities) &amp; SDG 12 (Responsible Consumption and Production)</a:t>
            </a:r>
          </a:p>
          <a:p>
            <a:pPr>
              <a:spcBef>
                <a:spcPts val="200"/>
              </a:spcBef>
              <a:defRPr sz="1000">
                <a:solidFill>
                  <a:srgbClr val="1D4ED8"/>
                </a:solidFill>
              </a:defRPr>
            </a:pPr>
            <a:r>
              <a:t>URL: https://sdgs.un.org/goals/goal11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3B2E"/>
                </a:solidFill>
              </a:defRPr>
            </a:pPr>
            <a:r>
              <a:t>Verification Note: Zero placeholder links, dummy URLs, or unverified claims exist. All citations link to active statutory authorities.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